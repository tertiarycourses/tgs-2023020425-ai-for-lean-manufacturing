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90" r:id="rId14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value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Late inspection</c:v>
                </c:pt>
                <c:pt idx="1">
                  <c:v>Gauge search</c:v>
                </c:pt>
                <c:pt idx="2">
                  <c:v>Rework</c:v>
                </c:pt>
                <c:pt idx="3">
                  <c:v>Material wait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value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Sheet1!$A$2:$A$7</c:f>
              <c:strCache>
                <c:ptCount val="6"/>
                <c:pt idx="0">
                  <c:v>P-104</c:v>
                </c:pt>
                <c:pt idx="1">
                  <c:v>M-220</c:v>
                </c:pt>
                <c:pt idx="2">
                  <c:v>V-031</c:v>
                </c:pt>
                <c:pt idx="3">
                  <c:v>S-410</c:v>
                </c:pt>
                <c:pt idx="4">
                  <c:v>B-118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72000</c:v>
                </c:pt>
                <c:pt idx="1">
                  <c:v>54000</c:v>
                </c:pt>
                <c:pt idx="2">
                  <c:v>21000</c:v>
                </c:pt>
                <c:pt idx="3">
                  <c:v>10000</c:v>
                </c:pt>
                <c:pt idx="4">
                  <c:v>6000</c:v>
                </c:pt>
                <c:pt idx="5">
                  <c:v>9000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value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Sheet1!$A$2:$A$4</c:f>
              <c:strCache>
                <c:ptCount val="3"/>
                <c:pt idx="0">
                  <c:v>Availability</c:v>
                </c:pt>
                <c:pt idx="1">
                  <c:v>Performance</c:v>
                </c:pt>
                <c:pt idx="2">
                  <c:v>Quality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95</c:v>
                </c:pt>
                <c:pt idx="2">
                  <c:v>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20425-AI-For-Lean-Manufacturi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fredang.github.io/5whys/" TargetMode="External"/><Relationship Id="rId3" Type="http://schemas.openxmlformats.org/officeDocument/2006/relationships/hyperlink" Target="https://alfredang.github.io/fishbone/" TargetMode="External"/><Relationship Id="rId4" Type="http://schemas.openxmlformats.org/officeDocument/2006/relationships/hyperlink" Target="https://alfredang.github.io/paretochart/" TargetMode="External"/><Relationship Id="rId5" Type="http://schemas.openxmlformats.org/officeDocument/2006/relationships/hyperlink" Target="https://alfredang.github.io/systemloop/" TargetMode="External"/><Relationship Id="rId6" Type="http://schemas.openxmlformats.org/officeDocument/2006/relationships/hyperlink" Target="https://alfredang.github.io/sipoc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2344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828800"/>
            <a:ext cx="5760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03120"/>
            <a:ext cx="557784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AI for Lean Manufacturing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3456432"/>
            <a:ext cx="14630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675887"/>
            <a:ext cx="56692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WSQ Course Code: TGS-2023020425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Lean Manufacturing | PRE-OPR-4064-1.1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v7.0 | 19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029200"/>
            <a:ext cx="56692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Tertiary Infotech Academy Pte Ltd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965960"/>
            <a:ext cx="109728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920240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31720"/>
            <a:ext cx="96012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and Course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75887"/>
            <a:ext cx="8961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Two days of lean thinking, manufacturing analytics and responsible AI decision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94360"/>
            <a:ext cx="2011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med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|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SSG digital-attendance QR code shown by the trainer.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second attendance event after lunch.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858768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separate assessment attendance event.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858768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Funding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and competent assessment outcome are required.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TRAQOM is the digital-attendance system, not the course survey.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29184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240280"/>
            <a:ext cx="1463040" cy="146304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240280"/>
            <a:ext cx="146304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880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2880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737360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737360"/>
            <a:ext cx="73152" cy="5120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92224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Name: __________________________________________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395728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2395728"/>
            <a:ext cx="73152" cy="5120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450592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Title / designation: __________________________________________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54096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54096"/>
            <a:ext cx="73152" cy="5120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Qualifications: __________________________________________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712464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712464"/>
            <a:ext cx="73152" cy="5120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67328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Areas of expertise: 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370831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5968" y="4370831"/>
            <a:ext cx="73152" cy="5120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425695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Training and industry experience: __________________________________________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5029200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5029200"/>
            <a:ext cx="73152" cy="51206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5084064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Contact: 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29184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240280"/>
            <a:ext cx="1463040" cy="14630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240280"/>
            <a:ext cx="146304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880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28803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Principal Trainer |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737360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737360"/>
            <a:ext cx="73152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92224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Role | Principal Trainer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395728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2395728"/>
            <a:ext cx="73152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450592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Focus | AI, process improvement and digital transformation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054096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3054096"/>
            <a:ext cx="73152" cy="5120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Delivers | WSQ professional and technology programmes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712464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712464"/>
            <a:ext cx="73152" cy="5120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67328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Approach | Evidence-led, practical and learner-centred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370831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15968" y="4370831"/>
            <a:ext cx="73152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425695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Organisation | Tertiary Infotech Academy Pte Ltd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5029200"/>
            <a:ext cx="7150608" cy="5120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8" y="5029200"/>
            <a:ext cx="73152" cy="5120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5084064"/>
            <a:ext cx="65836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Contact | 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role, organisation and manufacturing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process you want to improve.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data or observations are available today?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would make these two days valuable?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evidence, test ideas and ask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 at a time; challenge ideas, not people.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bypass site, equipment or information controls.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promptly and keep activities moving.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AI transparently; never present generated content as verified fact.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supplied scenarios and remove sensitive workplace 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TWO-DAY 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Lean Foundations, Waste and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Inventory and Production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AI-enabled Lean Implementation and Maintenance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Activities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Ten progressive case-based activities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 (60 min) + PP (90 min), open book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Worksheets, CSV analysis, checklists and pilot charter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REGISTERED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Identify eight types of production wastes within the organisation, benefits of lean manufacturing and steps to achieve lean performance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Apply lean principles to compute production capacity and TAKT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Perform ABC analysis for inventory classification using selective inventory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Calculate economic batch quantity and number of kanbans required.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139440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139440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330403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3304032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3834384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Identify objectives of production and inventory control and types of inventories by function and condition.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139440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139440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330403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3304032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3834384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Implement lean manufacturing tools for improved inventory flow and material flow.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139440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139440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330403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3304032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3834384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Implement lean manufacturing in an organisation at various levels and within various areas for improvement.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139440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139440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3304032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3304032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3834384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Determine the necessity for preventive maintenance within the organisation.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4578096"/>
            <a:ext cx="2535174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3232" y="4578096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77824" y="474268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" y="47335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99032" y="4742688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" y="5273040"/>
            <a:ext cx="2169414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Identify performance measurement areas in lean manufacturing and steps required for successful lean implementation.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The AI layer strengthens how learners apply the registered Lean Manufacturing outcomes.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Individual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discussion; answer in your own 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course slides, Learner Guide and approved materials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Phones and other unauthorised materials under the 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provided document and submit on the LMS.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Competent (C) or Not Yet Competent (NYC).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Re-assessment and appeal processes are available.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knowledge questions | K1-K8 | 60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 applied tasks | A1-A6 | 90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858768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Course materials and approved references only.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858768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Attendance and competent assessment requirements apply.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The current papers preserve the original instrument, question count, codes and timing.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714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071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TRAQOM 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6292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37460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37460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4942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494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7188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1688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89170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9170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5916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3398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339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644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08976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10144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7626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762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33204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437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34372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61854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6185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410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Complete every step in sequence; raise any accessibility need before the assessment begins.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Course activities are evidence packs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single learner-facing source for the current activity materials.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Self-contained folders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activity carries its scenario, mock data, worksheet and checklist.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858768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Paired formats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Markdown supports digital work; matching PDFs support print and annotation.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858768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packet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Completed worksheet, analysis output and checklist show the decision trail.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  <a:hlinkClick r:id="rId2"/>
              </a:rPr>
              <a:t>https://github.com/tertiarycourses/TGS-2023020425-AI-For-Lean-Manufacturing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BROWSER-BASED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Interactive Lean and Six Sigma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Whys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  <a:hlinkClick r:id="rId2"/>
              </a:rPr>
              <a:t>https://alfredang.github.io/5whys/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Fishbone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  <a:hlinkClick r:id="rId3"/>
              </a:rPr>
              <a:t>https://alfredang.github.io/fishbone/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139440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139440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30403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304032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Pareto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34384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  <a:hlinkClick r:id="rId4"/>
              </a:rPr>
              <a:t>https://alfredang.github.io/paretochart/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139440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139440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3304032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3304032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834384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  <a:hlinkClick r:id="rId5"/>
              </a:rPr>
              <a:t>https://alfredang.github.io/systemloop/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578096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578096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74268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7335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7426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SIPOC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273040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  <a:hlinkClick r:id="rId6"/>
              </a:rPr>
              <a:t>https://alfredang.github.io/sipoc/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tools to structure thinking; the evidence and decision remain yours.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LMS is the controlled delivery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Connects the learner to the correct registered course and cohort.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Current 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Publishes the approved slides, Learner Guide and activity link 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858768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Assessment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Provides the assigned WA and Practical Performance candidate papers.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858768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Submission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Records the learner's completed assessment files and submission status.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965960"/>
            <a:ext cx="109728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920240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31720"/>
            <a:ext cx="96012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Lean Foundations, Waste and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75887"/>
            <a:ext cx="8961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Customer value, eight wastes, five principles, capacity, takt and problem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94360"/>
            <a:ext cx="2011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transition spd="med">
    <p:push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Lean is a management system for customer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the value the customer needs, when it is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Expose and remove non-value-added time, effort, inventory and defects.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858768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Link flow, pull, quality at source, people capability and continuous improvement.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858768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Discipline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evidence and standard work; do not confuse local speed with system performance.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AI supports sensing and decisions; lean supplies the value logic and improvement method.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https://www.twi-global.com/technical-knowledge/faqs/faq-what-is-lean-manufacturing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Lean is not simply cost cutting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Lean thinking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Protect customer value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Remove causes of waste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Build capability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Improve the whole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Cost cutting alone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Targets expense without flow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Can shift waste downstream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Often reduces resilience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May suppress improvement ideas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total-system measures before declaring a saving.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Toyota Production System to modern lean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3136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313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Flow production foundations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1137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2305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2305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12209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2209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2033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Just-in-time and jidoka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0210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1378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1378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01282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128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6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Toyota Production System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9283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80451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0451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0355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03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0179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Lean term popularised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8356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69524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9524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9428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942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9252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Lean applied across sectors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The history matters because lean is a socio-technical operating system, not a toolbox.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Customer value sets the improvement 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Value is defined for a product or service, customer and need.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Translate needs into quality, delivery, cost, safety and service requirements.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Testable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change is valuable only if it improves an agreed customer or business outcome.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Balanced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Safety, regulation and ethics remain constraints even when customers do not see them.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Three activity types in a value 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Value-adding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Transforms form, fit or function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Customer is willing to pay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Done right the first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Non-value-adding</a:t>
            </a:r>
          </a:p>
        </p:txBody>
      </p:sp>
      <p:sp>
        <p:nvSpPr>
          <p:cNvPr id="22" name="Oval 21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Pure waste: remove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Necessary waste: reduce or redesign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Always test safety and compliance constraints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Classify the activity, not the job title or department.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eight wastes: DOWNTIME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Errors, scrap, rework and inspection loops.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Making earlier or more than downstream demand.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Idle people, equipment, information or material.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Non-utilised talent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Ideas, knowledge and capability left unused.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959352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Transportation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Unnecessary movement of materials or information.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959352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Excess raw material, WIP or finished goods.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959352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Motion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Unnecessary movement by people or equipment.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959352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Extra-processing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Work beyond what the customer or process needs.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https://www.twi-global.com/technical-knowledge/faqs/faq-what-is-lean-manufacturing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Muda, mura and muri reinforce one another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What operators see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Muda: visible waste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Mura: uneven demand and workload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Muri: overburden and strain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System response</a:t>
            </a:r>
          </a:p>
        </p:txBody>
      </p:sp>
      <p:sp>
        <p:nvSpPr>
          <p:cNvPr id="22" name="Oval 21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Stabilise demand and work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Level flow where practical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Design safe capacity margins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Then remove residual waste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Removing muda while ignoring unevenness and overburden can make the system brittle.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https://www.twi-global.com/technical-knowledge/faqs/faq-what-is-lean-manufacturing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Waste walk: a symptom is not yet a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machining cell misses shipment cut-off twice a week. WIP piles up before inspection while operators search for gauges.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Waiting before inspection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Motion searching for gauges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Inventory between stages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Potential defects and rework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Record observable facts first; use root-cause tools before prescribing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Pareto view focuses the first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7498079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49640" y="1783080"/>
            <a:ext cx="2926080" cy="4069080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10312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743200"/>
            <a:ext cx="2377440" cy="228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Two delay categories account for 62% of observed incidents; validate them at the gemba before acting.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Five lean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Define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value from the customer's point of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Map the value 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See every material and information step.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206496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37108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Create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stoppages, queues and hand-off friction.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206496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337108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Establish pull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Replenish from downstream demand rather than forecast alone.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712208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712208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8768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86765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87680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Seek perfection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407152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Continuously close the gap through learning cycles.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https://www.twi-global.com/technical-knowledge/faqs/faq-what-is-lean-manufacturing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Value-stream thinking crosses departments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3136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313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Customer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1137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2305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2305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12209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2209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2033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Order and planning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0210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1378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1378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01282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128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6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Material and production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9283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80451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0451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0355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03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0179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Quality and release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8356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69524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9524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9428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942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9252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Delivery and feedback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Optimise end-to-end lead time and value, not the utilisation of one function.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Current-state mapping needs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Cycle, queue, changeover and lead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Material, information, rework and escalation paths.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First-pass yield, defect and rework rates.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 rate, mix, volatility and due dates.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People, machines, uptime and constraints.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Batch sizes, schedules, approvals and policies.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Flow and pull solve different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Flow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Work progresses without interruption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Small transfer batches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Balanced steps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Visible constraints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Pull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Downstream demand authorises work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WIP is bounded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Replenishment signals are explicit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Overproduction is controlled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flow where processes can connect; use pull where buffers are necessary.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Production capacity is a constraint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Rated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Theoretical maximum under stated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Effective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Expected output after planned losses.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Actual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the system achieved.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Bottleneck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lowest sustainable stage rate that governs the flow.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Production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744200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9CDCFE"/>
                </a:solidFill>
                <a:latin typeface="Arial"/>
              </a:rPr>
              <a:t>Production rate = good units produced / productive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37560"/>
            <a:ext cx="523036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960 good units / 8 hours = 120 units per hour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37560"/>
            <a:ext cx="5230368" cy="205740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MANAGEMENT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041648"/>
            <a:ext cx="4709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State whether downtime, breaks and rejects are included; otherwise rates are not comparable.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Takt time aligns work to customer 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744200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9CDCFE"/>
                </a:solidFill>
                <a:latin typeface="Arial"/>
              </a:rPr>
              <a:t>Takt time = net available production time / customer 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37560"/>
            <a:ext cx="523036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420 available minutes / 210 units = 2.0 minutes per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37560"/>
            <a:ext cx="5230368" cy="205740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MANAGEMENT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041648"/>
            <a:ext cx="4709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Takt is a demand rhythm, not the observed cycle time. A process must reliably cycle at or below takt.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Takt time, cycle time and lead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Different clocks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Takt: required demand pace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Cycle: time to complete one unit at a process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Lead: elapsed time from request to 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Management use</a:t>
            </a:r>
          </a:p>
        </p:txBody>
      </p:sp>
      <p:sp>
        <p:nvSpPr>
          <p:cNvPr id="22" name="Oval 21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Takt sizes capacity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Cycle exposes constraints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Lead time reveals queues and delays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Do not report one metric as a substitute for another.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Capacity decision with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line has a 2.0-minute takt. Average cycle time is 1.8 minutes, but the 90th percentile is 2.4 minutes and changeovers create a morning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Average suggests capacity is sufficient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High-end variation misses takt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Changeover loss is time-dependent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Queueing appears despite acceptable average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Stabilise the process and changeovers before buying capacity; model the full distribution, not the mean alone.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Where AI complements lean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 anomalies, defects and emerging constraints from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Estimate failure, demand or quality risk earlier.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139440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139440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30403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304032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Recommend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34384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Rank options while exposing assumptions and confidence.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139440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139440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3304032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3304032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834384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 work instructions, summaries and improvement documentation.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578096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578096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74268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7335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7426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273040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Feed verified outcomes back into standards and models.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AI should shorten the learn-and-improve loop without hiding process ownership.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https://www.sciencedirect.com/topics/engineering/lean-manufacturing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Automation, analytics, machine learning and GenAI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Deterministic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Automation follows explicit rules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Analytics describes and diagnoses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Outputs are repeatable for the same inputs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Probabilistic</a:t>
            </a:r>
          </a:p>
        </p:txBody>
      </p:sp>
      <p:sp>
        <p:nvSpPr>
          <p:cNvPr id="22" name="Oval 21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ML predicts from patterns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Computer vision classifies images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GenAI produces new text, images or code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Outputs need confidence and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Choose the least complex method that reliably solves the problem.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Lean problem framing before an AI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3136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313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Define customer and waste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1137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2305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2305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12209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2209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2033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Measure the current state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0210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1378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1378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01282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128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6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Find the causal lever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9283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80451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0451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0355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03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0179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simplest countermeasure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8356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69524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9524" y="1920240"/>
            <a:ext cx="1987905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9428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942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9252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AI only when it improves the control loop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Start with a process problem and measurable outcome - never with a model looking for a use case.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LEAN FOUNDATIONS, WASTE 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opportunity: inspection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Manual inspection takes 45 seconds per part and creates a queue. Defects are visually observable but rare.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Potential: computer-vision triage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Constraint: class imbalance and image quality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Risk: false negatives release defects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Need: human review and traceable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Pilot AI as an assistive screen with conservative thresholds; retain human disposition authority.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FOUNDATION | K1 K2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1: Waste Walk and AI Opportunity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Orion Precision Components has rising lead time in a CNC-inspection-packaging value stream. Learners use 30 observation records to distinguish facts, waste symptoms and candidate AI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Identify the eight wastes, separate necessary from pure waste, and frame one evidence-based improvement opportunity without jumping to technology.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Completed waste register, Pareto summary, problem statement and AI/non-AI countermeasure screen.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Observation CSV; Pareto tool; 5 Whys tool; worksheet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1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OUTPUT REVIEW | K1 K2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three wastes contribute most to delay?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evidence is still missing before causal analysis?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countermeasure should be tried before AI?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decision could AI support, and who owns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All observations are classified with a rationale.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Pareto totals reconcile to the CSV.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Problem statement contains no proposed solution.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AI option names a decision, data, human owner and risk.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FOUNDATION | K4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2: SIPOC and Value-stream Decision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medical-device subassembly moves through order entry, kitting, assembly, inspection and release. Handoffs and information delays are not visible in the current flowchart.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process scope with SIPOC, classify value-added and non-value-added work, and produce a current-state decision 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SIPOC, current-state value-stream worksheet, flow/pull improvement hypothesis and evidence plan.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SIPOC tool; system-loop tool; worksheet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2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OUTPUT REVIEW | K4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2: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is the customer-defined output?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steps transform the product correctly the first time?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Where does information wait?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feedback loop sustains the queue?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SIPOC boundary is one end-to-end process.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Customer requirements are measurable.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Value classification follows the three lean tests.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Future-state hypothesis includes a measure and constraint.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INTERMEDIATE | K4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3: Capacity, Takt and Bottleneck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Orion must ship 210 good units in a 420-minute net shift. Four process steps have different cycle-time distributions, downtime and yields.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Calculate takt, effective capacity and constraint risk, then select an improvement experiment based on facts rather than averages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Capacity table, takt comparison, bottleneck decision and countermeasure experiment.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CSV; calculator; worksheet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3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OUTPUT REVIEW | K4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3: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is the takt time?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process constrains good-output capacity?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does variation change the conclusion?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should be stabilised before capacity is purchased?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Takt is 2.00 minutes per good unit.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Effective capacity calculations show units and assumptions.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Constraint decision considers variation and yield.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Countermeasure changes one causal factor with a defined test.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|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Eight types of production waste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K2 K4 A1 A4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completed activity outputs to explain your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 one workplace process where the method applies.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5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56432"/>
            <a:ext cx="12191695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60 minutes | Return ready for inventory and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transition spd="med">
    <p:push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965960"/>
            <a:ext cx="109728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920240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31720"/>
            <a:ext cx="96012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Inventory and Production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75887"/>
            <a:ext cx="8961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Inventory purpose and types, ABC, EBQ, kanban, JIT, 5S, VSM and QC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94360"/>
            <a:ext cx="2011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transition spd="med">
    <p:push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Production and inventory control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Meet demand with the right item, quantity and timing.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material moving without starving or flooding processes.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206496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37108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 capital tied up in stock and obsolescence.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206496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337108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identity, condition and traceability.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712208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712208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8768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86765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87680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Resilience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407152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explicit buffers for credible variability and risk.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Inventory by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Cycle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Supports normal replenishment between orders or batches.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Protects service against demand or supply variability.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Pipeline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Material moving or waiting between locations.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Anticipation stock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ahead for predictable peaks or shutdowns.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Decoupling stock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Buffers adjacent processes with different rhythms.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Maintenance, repair and operating supplies.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Inventory by condition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Raw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yet transformed.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 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Partly processed or waiting between operations.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Finished goods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Completed and awaiting shipment.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Fit for planned use.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Quarantine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Held pending inspection or disposition.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Obsolete or excess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current demand or beyond useful life.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Inventory can be protection and waste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Useful buffer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Absorbs known variability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Protects a constraint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Supports service commitments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Has an explicit owner and rule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Hidden problem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Masks quality and downtime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Lengthens lead time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Consumes space and cash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Can become obsolete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Every buffer needs a purpose, size rule and exit condition.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ABC selective inventory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3136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313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Calculate annual usage value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1137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2305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2305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12209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2209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2033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Rank items descending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0210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1378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1378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01282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128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6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Compute cumulative share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9283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80451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0451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0355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03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0179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Assign A, B and C classes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8356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69524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9524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9428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942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9252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differentiated controls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ABC prioritises management attention; it does not replace criticality, lead-time or risk analysis.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Annual usage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744200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9CDCFE"/>
                </a:solidFill>
                <a:latin typeface="Arial"/>
              </a:rPr>
              <a:t>Annual usage value = annual demand x unit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37560"/>
            <a:ext cx="523036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Item P-104: 4,000 units x $18 = $72,000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37560"/>
            <a:ext cx="5230368" cy="205740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MANAGEMENT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041648"/>
            <a:ext cx="4709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Sort values before cumulative percentages; keep item identifiers as 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small item set can dominate annual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7498079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49640" y="1783080"/>
            <a:ext cx="2926080" cy="4069080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10312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743200"/>
            <a:ext cx="2377440" cy="228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top two items represent most annual usage value and deserve tighter review and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Class policy must follow the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 items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Frequent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Accurate records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Tight approval and supplier management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Small controlled buffers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B and C items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B: periodic review and balanced control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C: simple controls and efficient ordering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Still override for safety-critical items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a criticality flag alongside ABC to prevent low-cost safety parts being neglected.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Economic batch quantity balances two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Setup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batches increase preparation, changeover and administration.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Holding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Larger batches increase space, capital, damage and obsolescence.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EBQ assumes a known production requirement.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finite replenishment rate distinguishes EBQ from basic EOQ.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Economic batch quantity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744200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9CDCFE"/>
                </a:solidFill>
                <a:latin typeface="Arial"/>
              </a:rPr>
              <a:t>EBQ = sqrt[(2DS/H) x P/(P-D)]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37560"/>
            <a:ext cx="523036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D=12,000/year, S=$80/setup, H=$3/unit-year, P=30,000/year -&gt; EBQ approximately 1,033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37560"/>
            <a:ext cx="5230368" cy="205740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MANAGEMENT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041648"/>
            <a:ext cx="4709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P &gt; D and document assumptions; revise when demand, setup or holding costs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EBQ is a decision aid, not a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Assumptions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Stable demand and production rate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Known setup and holding costs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No material stockout during production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Consistent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Reality checks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Shelf life and space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Supplier or machine constraints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Changeover improvement opportunity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Demand uncertainty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Lean often reduces the setup cost itself, allowing smaller economical batches.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Kanban is a signal-and-response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Card, empty bin, electronic message or controlled slot.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Authorisation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Permits production or movement - no signal, no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number of cards caps WIP.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Blockages and abnormal consumption become visible.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Kanban quantity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744200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9CDCFE"/>
                </a:solidFill>
                <a:latin typeface="Arial"/>
              </a:rPr>
              <a:t>Kanbans = demand rate x replenishment lead time x (1 + safety factor) / container quantity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37560"/>
            <a:ext cx="523036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500 units/day x 2 days x 1.10 / 50 units = 22 kanbans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37560"/>
            <a:ext cx="5230368" cy="205740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MANAGEMENT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041648"/>
            <a:ext cx="4709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Round up to a whole container and review the safety factor after stabilising lead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Kanban sensitivity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team wants more kanban cards because stockouts occurred during supplier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More cards hide the lead-time problem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permanent buffer increases WIP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Supplier delay distribution is not understood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Container size may be poorly matched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Contain short-term risk, then reduce and stabilise replenishment lead time before resetting the card count.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Lean tools for material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Makes location, quantity and abnormality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Value-stream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Connects material and information 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Defines the current best-known safe method.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Produces and replenishes near actual demand.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959352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Heijunka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Levels volume and mix where demand permits.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959352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Reduces changeover so smaller batches are practical.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959352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TPM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Protects equipment availability and stable flow.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959352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Poka-yoke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Prevents or immediately detects errors.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5S creates a visual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3136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313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1137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2305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2305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12209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2209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2033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Set in 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0210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1378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1378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01282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128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6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Shine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9283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80451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0451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0355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03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0179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Standardise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8356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69524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9524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9428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942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9252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Sustain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5S is not a one-time clean-up; it is a control system that makes normal and abnormal conditions obvious.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Just-in-time needs stability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Enablers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Reliable processes and suppliers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Short replenishment lead time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Quality at source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Visible demand signals</a:t>
            </a:r>
          </a:p>
        </p:txBody>
      </p:sp>
      <p:sp>
        <p:nvSpPr>
          <p:cNvPr id="22" name="Oval 21"/>
          <p:cNvSpPr/>
          <p:nvPr/>
        </p:nvSpPr>
        <p:spPr>
          <a:xfrm>
            <a:off x="941832" y="4937760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Flexible people and equipment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Failure modes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Too little buffer for real variability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Expediting replaces improvement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Local pull disconnected from customer demand</a:t>
            </a:r>
          </a:p>
        </p:txBody>
      </p:sp>
      <p:sp>
        <p:nvSpPr>
          <p:cNvPr id="37" name="Oval 36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Risks transferred to suppliers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Design resilience explicitly; low inventory is an outcome, not the sole objective.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Heijunka reduces unevenness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3136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313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Understand demand mix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1137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2305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2305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12209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2209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2033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a practical pitch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90210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91378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1378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01282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128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1106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Sequence product families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9283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80451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80451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0355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03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0179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Level volume and mix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8356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469524" y="1920240"/>
            <a:ext cx="1987905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9524" y="1920240"/>
            <a:ext cx="1987905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79428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942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9252" y="3364992"/>
            <a:ext cx="1768449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Review adherence and exceptions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Level only what the market and process can support; do not flatten meaningful customer priorities.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demand forecast versus pull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forecasting model predicts next week's mix, while the line uses kanban based on actual withdrawal.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Forecast helps capacity and material planning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Kanban authorises near-term replenishment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Forecast error must not inflate every buffer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Human planners need exception thresholds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prediction for planning horizons and pull for execution; reconcile them through explicit exception rules.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can improve inventory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Demand sensing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recent orders, seasonality and context to update forecasts.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Anomaly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Flag unusual consumption, scrap or stock movement.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206496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37108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Supplier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Surface lead-time and quality patterns.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206496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337108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Replenishment 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Prioritise reviews while preserving approval authority.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712208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712208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8768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86765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87680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407152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Summarise exceptions and draft action lists from verified ERP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https://www.sciencedirect.com/topics/engineering/lean-manufacturing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recommendation versus replenishment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AI may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Score risk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Forecast demand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Rank shortages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Suggest order quantities</a:t>
            </a:r>
          </a:p>
        </p:txBody>
      </p:sp>
      <p:sp>
        <p:nvSpPr>
          <p:cNvPr id="22" name="Oval 21"/>
          <p:cNvSpPr/>
          <p:nvPr/>
        </p:nvSpPr>
        <p:spPr>
          <a:xfrm>
            <a:off x="941832" y="4937760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Explain drivers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Human owner must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Validate data and constraints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Resolve safety and service trade-offs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Approve material commitments</a:t>
            </a:r>
          </a:p>
        </p:txBody>
      </p:sp>
      <p:sp>
        <p:nvSpPr>
          <p:cNvPr id="37" name="Oval 36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Record overrides and outcomes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Never allow a language model to invent inventory balances or supplier commitments.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INVENTORY AND PRODUCTION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ABC plus criticality plus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low-cost seal is class C by annual value but stops the only coating line when unavailable.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ABC alone under-prioritises it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Criticality is high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Lead time is volatile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AI forecast confidence is low because failures are rare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a multi-criteria policy: annual value + operational criticality + lead-time risk + data confidence.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| K5 K6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4: ABC Inventory Classification with Criticality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Orion carries twelve materials with different demand, cost, lead time and operational criticality. Management currently reviews every item monthly.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Perform ABC analysis, challenge value-only classification with criticality and design differentiated control policies.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Ranked ABC table, cumulative-value chart, criticality overrides and class-control 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Inventory CSV; Pareto tool; worksheet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4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OUTPUT REVIEW | K5 K6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4: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items form approximately 80% of annual usage value?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low-value items need an override?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review frequency fits each class?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could AI assist without auto-ordering?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Annual-value total and cumulative percentages reconcile.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Classes are based on ranked value and documented boundaries.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Criticality overrides are explicit, not hidden.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Policy differs meaningfully across A, B and C.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|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5: EBQ and Kanban Control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component family is made internally at a finite production rate. Large batches reduce setups but increase WIP; replenishment delay also creates stockouts at assembly.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Calculate EBQ and kanban quantity, test assumptions and design a signal-and-response rule.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EBQ calculation, kanban quantity, sensitivity table, card/bin rule and review trigger.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Calculation worksheet; calculator; checklist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5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OUTPUT REVIEW |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5: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is the EBQ under the base assumptions?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does setup reduction change 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many kanbans are required?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assumption most needs evidence?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Base EBQ is approximately 1,033 units.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Setup reduction produces a smaller economic batch.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Kanban result is rounded up and unit-consistent.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Signal rule states authorisation, limit and exception response.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INTERMEDIATE | K7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6: Root Cause with 5 Whys and Fishbone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CNC-2 generates intermittent surface marks after changeovers. The first response was to retrain operators, but the problem returned.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structured root-cause tools to separate evidence from assumptions and select a testable countermeasure.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Problem statement, 5 Whys chain, fishbone map, evidence plan and countermeasure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5 Whys tool; Fishbone tool; evidence checklist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ACTIVITY 6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OUTPUT REVIEW | K7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6: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Where does the causal chain rely on an assumption?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cause category is under-investigated?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evidence would disconfirm the leading hypothesis?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could GenAI help without fabricating a cause?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Problem statement includes magnitude, location and time pattern.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At least two causal branches are considered.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Assumptions are visibly tagged.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Countermeasure follows evidence and has a verification date.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|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Objectives of production and inventory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K5 K6 K7 A2 A3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completed activity outputs to explain your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 one workplace process where the method applies.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5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56432"/>
            <a:ext cx="12191695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Bring your completed worksheets for 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transition spd="med">
    <p:push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965960"/>
            <a:ext cx="109728" cy="2286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920240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331720"/>
            <a:ext cx="96012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AI-enabled Lean Implementation and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75887"/>
            <a:ext cx="8961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Metrics, TPM, predictive maintenance, quality AI, GenAI, governance and scalable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94360"/>
            <a:ext cx="2011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transition spd="med">
    <p:push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Preventive maintenance protects lean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breakdown-driven waiting, defects and schedule churn.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equipment deterioration before hazardous failure.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206496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37108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process conditions inside proven limits.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206496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337108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 labour and parts instead of paying emergency premiums.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712208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712208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8768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86765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87680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407152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work history to remove recurring failure causes.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Reactive, preventive, condition-based and predictive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Time and event based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Reactive: after failure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Preventive: calendar, usage or event schedule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Simple to govern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May over-maintain or miss early deterioration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Condition and prediction based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Condition-based: threshold or inspection signal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Predictive: model estimates risk or remaining life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Targets intervention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Depends on data quality and model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Select the strategy by failure consequence, detectability and economics.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Determine the maintenance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714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071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Build equipment inventory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6292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37460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37460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4942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494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7188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Assess criticality and failure modes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1688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89170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9170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Review maker and legal requirements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5916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3398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339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644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Analyse work history and condition 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08976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10144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7626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762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Select task, interval and owner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33204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437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34372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61854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6185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410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Measure and improve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Safety-critical maintenance requirements are constraints, not optimisation suggestions.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FMEA focuses maintenance effort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Failure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the asset or process could fail.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Impact on safety, quality, delivery and cost.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Mechanism that creates the failure.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Prevention and detection already in place.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severity first, then occurrence and detection evidence.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 owner, due date and verification evidence.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Total Productive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Autonomous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Operators care for basic conditions and detect abnormalities.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Planned 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Schedule evidence-based tasks and spares.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Focused 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Remove chronic losses.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 maintenance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equipment conditions that create defects.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959352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Early equipment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Design maintainability into new assets.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959352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Build operator and maintainer capability.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959352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Safety and environment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Eliminate harm and uncontrolled impact.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959352"/>
            <a:ext cx="2535174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959352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123944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Office TPM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654296"/>
            <a:ext cx="2169414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Improve supporting information and administrative flow.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Overall Equipment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744200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9CDCFE"/>
                </a:solidFill>
                <a:latin typeface="Arial"/>
              </a:rPr>
              <a:t>OEE = Availability x Performance x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37560"/>
            <a:ext cx="523036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0.90 x 0.95 x 0.98 = 83.8%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37560"/>
            <a:ext cx="5230368" cy="205740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MANAGEMENT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041648"/>
            <a:ext cx="4709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OEE to expose loss categories, not to rank unlike equipment or pressure operators.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Metric tree prevents local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Lagging outcomes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Lead time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On-time delivery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Cost per good unit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Customer complaints</a:t>
            </a:r>
          </a:p>
        </p:txBody>
      </p:sp>
      <p:sp>
        <p:nvSpPr>
          <p:cNvPr id="22" name="Oval 21"/>
          <p:cNvSpPr/>
          <p:nvPr/>
        </p:nvSpPr>
        <p:spPr>
          <a:xfrm>
            <a:off x="941832" y="4937760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OEE and first-pass yield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Leading controls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Standard-work adherence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Changeover completion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Maintenance compliance</a:t>
            </a:r>
          </a:p>
        </p:txBody>
      </p:sp>
      <p:sp>
        <p:nvSpPr>
          <p:cNvPr id="37" name="Oval 36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Data-quality score</a:t>
            </a:r>
          </a:p>
        </p:txBody>
      </p:sp>
      <p:sp>
        <p:nvSpPr>
          <p:cNvPr id="40" name="Oval 39"/>
          <p:cNvSpPr/>
          <p:nvPr/>
        </p:nvSpPr>
        <p:spPr>
          <a:xfrm>
            <a:off x="6464808" y="49377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4576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Improvement action closure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Pair each outcome with controllable process measures and an owner.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Core lean performance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 time, cycle time, WIP and queue 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First-pass yield, defect rate, rework and escape 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On-time delivery, schedule adherence and service level.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Equipment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Availability, OEE, MTBF and MTTR.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Safety, skills coverage, suggestions and participation.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Sustainment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Audit conformance, action closure and benefit retention.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KPI dashboard should tell a causal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7498079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49640" y="1783080"/>
            <a:ext cx="2926080" cy="4069080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10312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743200"/>
            <a:ext cx="2377440" cy="228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 quality does not offset availability loss; target the dominant OEE component and verify the constraint.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use cases in manufacturing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Predictive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Forecast equipment issues from sensor and work-history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Visual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Detect, classify or triage defects from images.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 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bottlenecks and recommend parameter ranges.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Demand and 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Forecast needs and surface replenishment risk.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twins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Simulate assets or flows before physical changes.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Copilots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Retrieve manuals, summarise logs and draft controlled work content.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https://www.sciencedirect.com/topics/engineering/lean-manufacturing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Computer vision quality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What it can do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Consistent high-speed screening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Localise visible anomalies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Trend defect classes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Route uncertain 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What can go wrong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Poor lighting or camera drift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Rare defects and class imbalance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Product-mix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False negatives released as good</a:t>
            </a:r>
          </a:p>
        </p:txBody>
      </p:sp>
      <p:sp>
        <p:nvSpPr>
          <p:cNvPr id="37" name="Oval 36"/>
          <p:cNvSpPr/>
          <p:nvPr/>
        </p:nvSpPr>
        <p:spPr>
          <a:xfrm>
            <a:off x="6464808" y="49377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Hidden bias in training images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Set disposition authority, confidence thresholds and revalidation triggers.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https://www.sciencedirect.com/topics/engineering/lean-manufacturing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Predictive-maintenance data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714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071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Sensors and work orders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6292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37460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37460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4942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494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7188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Time alignment and context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1688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89170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9170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Features and health indicators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5916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3398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339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644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Risk prediction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08976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10144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7626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762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Maintenance decision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33204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437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34372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61854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6185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410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Outcome feedback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 model is only as useful as the action workflow it triggers.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https://www.ascm.org/topics/lean-manufacturing/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Maintenance companion with GenAI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technician asks a copilot why a spindle alarm recurs. The system retrieves manuals, approved work instructions and recent work orders.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Faster knowledge access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Risk of hallucinated torque or sequence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Source version may be wrong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Maintenance action affects safety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Ground responses in approved sources, show citations, require technician verification and never bypass lockout/tagout.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Generative AI supports knowledge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Find relevant clauses in manuals, standards and work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Summarise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Condense shift logs, complaints and improvement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139440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139440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30403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304032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34384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first drafts of work instructions, A3s and training notes.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139440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139440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3304032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294888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3304032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834384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controlled multilingual instructions for review.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578096"/>
            <a:ext cx="5271516" cy="123748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578096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74268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7335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7426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273040"/>
            <a:ext cx="4905756" cy="432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 model signals into audience-appropriate decision support.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Generated content remains a draft until an authorised person verifies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https://www.ascm.org/topics/lean-manufacturing/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Classical ML and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Classical / predictive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Outputs scores, classes or forecasts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Uses structured signals or labelled examples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Evaluate with error metrics and thresholds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Good for anomaly, demand, quality and maintenance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Generative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Outputs text, images or code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Uses prompts plus retrieved context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Evaluate groundedness, usefulness and harm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Good for knowledge access and drafting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Some solutions combine both: a predictive model signals risk and a grounded copilot explains the evidence.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Start with manufacturing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Relevance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data from the specific asset, process, product and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readings with operating state, product mix, maintenance and environment.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206496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37108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completeness, accuracy, labels, timing and lineage.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206496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206496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337108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36194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3371088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901440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 people accountable for definitions, access and correction.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712208"/>
            <a:ext cx="5271516" cy="130454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4712208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8768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86765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87680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407152"/>
            <a:ext cx="4905756" cy="499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decisions and outcomes to learn whether the system helped.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https://mitsloan.mit.edu/ideas-made-to-matter/ai-manufacturing-start-data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 readiness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Ready enough to pilot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Defined outcome and baseline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Representative data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Known labels and units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Access and ownership approved</a:t>
            </a:r>
          </a:p>
        </p:txBody>
      </p:sp>
      <p:sp>
        <p:nvSpPr>
          <p:cNvPr id="22" name="Oval 21"/>
          <p:cNvSpPr/>
          <p:nvPr/>
        </p:nvSpPr>
        <p:spPr>
          <a:xfrm>
            <a:off x="941832" y="4937760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Action workflow exists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Stop and repair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No process owner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Ambiguous timestamps or units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Missing negative cases</a:t>
            </a:r>
          </a:p>
        </p:txBody>
      </p:sp>
      <p:sp>
        <p:nvSpPr>
          <p:cNvPr id="37" name="Oval 36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Uncontrolled personal or sensitive data</a:t>
            </a:r>
          </a:p>
        </p:txBody>
      </p:sp>
      <p:sp>
        <p:nvSpPr>
          <p:cNvPr id="40" name="Oval 39"/>
          <p:cNvSpPr/>
          <p:nvPr/>
        </p:nvSpPr>
        <p:spPr>
          <a:xfrm>
            <a:off x="6464808" y="49377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4576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No way to verify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Do not compensate for poor data with a more complex model.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https://mitsloan.mit.edu/ideas-made-to-matter/ai-manufacturing-start-data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Six building blocks for manufacturing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Prioritised value and use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Quality, access, lineage and single source of truth.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Connectivity, platforms, tools and interfaces.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Talent and organisation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Domain, data, IT and change capability.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Governance, collaboration and delivery method.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Culture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Experimentation, trust and evidence-based decisions.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https://www.pwc.com/gx/en/industrial-manufacturing/pdf/intro-implementing-ai-manufacturing.pdf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Lean-AI pilot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714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071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Problem and baseline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6292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37460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37460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4942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494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7188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Data and risk readiness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1688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89170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9170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Small controlled experiment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5916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3398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339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644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Human-in-the-loop trial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08976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10144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7626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762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Measure value and harm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33204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437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34372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61854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6185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410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Standardise, scale or stop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Think big about the operating model, start small with a measurable lighthouse use case.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https://www.pwc.com/gx/en/industrial-manufacturing/pdf/intro-implementing-ai-manufacturing.pdf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Responsible AI controls on the shop floor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Owner, purpose, approvals, risk class and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Users, affected people, context, failure modes and dependencies.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Accuracy, drift, false alarms, latency, safety and business outcomes.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Thresholds, human review, fallback, monitoring, change control and retirement.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08192"/>
            <a:ext cx="111556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Source: https://www.nist.gov/itl/ai-risk-management-framework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Human-in-the-loop is a designed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AI responsibility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Detect or predict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Present evidence and confidence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Recommend within limits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Log inputs and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Human responsibility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Verify context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Approve consequential 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Handle exceptions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Escalate uncertainty</a:t>
            </a:r>
          </a:p>
        </p:txBody>
      </p:sp>
      <p:sp>
        <p:nvSpPr>
          <p:cNvPr id="37" name="Oval 36"/>
          <p:cNvSpPr/>
          <p:nvPr/>
        </p:nvSpPr>
        <p:spPr>
          <a:xfrm>
            <a:off x="6464808" y="49377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Own safety and customer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Name the decision owner and the fallback before deployment.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Common AI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Process, product or environment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 accept the recommendation without challenge.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Hallucination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Generated content is plausible but unsupported.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Feedback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Decisions alter future data and reinforce errors.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Prompts, data, models or interfaces are manipulated.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Hidden transfer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vendor model changes without local validation.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When a pilot should stop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defect model reaches 96% overall accuracy, but misses two of ten safety-critical crack 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Overall accuracy hides class-specific harm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Safety severity is high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Rare class evidence is weak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Operator over-trust is plausible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Stop automatic disposition; improve data and controls. Use the model only for assistive triage until the critical-class requirement is met.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AI use-case prioritisation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Waste, constraint or risk addressed and size of baseline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Data, integration, skills and actionability.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Safety, quality, privacy, security and regulatory consequence.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 to learn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Speed to a controlled, informative experiment.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Repeatability across assets, products or sites.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Adoption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Fit with operator work and decision rights.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Pilot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37360"/>
            <a:ext cx="523036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Benefits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67004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Avoided downtime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3697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Reduced scrap and rework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039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Lower inspection effort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370831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Inventory and lead-time reduction</a:t>
            </a:r>
          </a:p>
        </p:txBody>
      </p:sp>
      <p:sp>
        <p:nvSpPr>
          <p:cNvPr id="22" name="Oval 21"/>
          <p:cNvSpPr/>
          <p:nvPr/>
        </p:nvSpPr>
        <p:spPr>
          <a:xfrm>
            <a:off x="941832" y="4937760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Faster knowledge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737360"/>
            <a:ext cx="5230368" cy="4023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1737360"/>
            <a:ext cx="5230368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1993392"/>
            <a:ext cx="47548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0B981"/>
                </a:solidFill>
                <a:latin typeface="Arial"/>
              </a:rPr>
              <a:t>Full cost</a:t>
            </a:r>
          </a:p>
        </p:txBody>
      </p:sp>
      <p:sp>
        <p:nvSpPr>
          <p:cNvPr id="28" name="Oval 27"/>
          <p:cNvSpPr/>
          <p:nvPr/>
        </p:nvSpPr>
        <p:spPr>
          <a:xfrm>
            <a:off x="6464808" y="2670048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670048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2642616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Data collection and cleaning</a:t>
            </a:r>
          </a:p>
        </p:txBody>
      </p:sp>
      <p:sp>
        <p:nvSpPr>
          <p:cNvPr id="31" name="Oval 30"/>
          <p:cNvSpPr/>
          <p:nvPr/>
        </p:nvSpPr>
        <p:spPr>
          <a:xfrm>
            <a:off x="6464808" y="323697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236976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209544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Integration and validation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464808" y="38039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803904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3776472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Change management and training</a:t>
            </a:r>
          </a:p>
        </p:txBody>
      </p:sp>
      <p:sp>
        <p:nvSpPr>
          <p:cNvPr id="37" name="Oval 36"/>
          <p:cNvSpPr/>
          <p:nvPr/>
        </p:nvSpPr>
        <p:spPr>
          <a:xfrm>
            <a:off x="6464808" y="4370831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370831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4343399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Monitoring, support and model updates</a:t>
            </a:r>
          </a:p>
        </p:txBody>
      </p:sp>
      <p:sp>
        <p:nvSpPr>
          <p:cNvPr id="40" name="Oval 39"/>
          <p:cNvSpPr/>
          <p:nvPr/>
        </p:nvSpPr>
        <p:spPr>
          <a:xfrm>
            <a:off x="6464808" y="49377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4937760"/>
            <a:ext cx="31089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4576" y="4910328"/>
            <a:ext cx="416052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Residual risk and fallback capacity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Report net verified benefit and confidence, not vendor headline potential.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Simple pilot ROI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744200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9CDCFE"/>
                </a:solidFill>
                <a:latin typeface="Arial"/>
              </a:rPr>
              <a:t>ROI = (verified annual benefit - annualised total cost) / annualised total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337560"/>
            <a:ext cx="523036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WORKED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470916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($120,000 - $80,000) / $80,000 = 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337560"/>
            <a:ext cx="5230368" cy="205740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584448"/>
            <a:ext cx="47548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MANAGEMENT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041648"/>
            <a:ext cx="4709160" cy="10789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realised from projected benefit and include the cost of controls, not only model licensing.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Lean implementation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714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071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Leadership purpose and governance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6292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37460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37460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4942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494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7188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Current state and objectives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1688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89170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9170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Capability and cross-functional team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5916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3398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339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644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Flow, pull and standard work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08976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10144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7626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762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Targeted AI experiments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33204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437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34372" y="1920240"/>
            <a:ext cx="162306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61854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6185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410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Measure, standardise and scale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Implementation is a learning system, not a one-time launch.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Sustaining the new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Standard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Document the verified method and decision rights.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Visual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current state, targets, exceptions and ownership.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Leader routine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process evidence at the gemba.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 operators, engineers, maintainers and managers.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checks, thresholds, reactions and records.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Audit and refresh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benefits, data quality, model performance and change triggers.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Scaling without copying blindly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3657600" cy="4251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3200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3154680" cy="3063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predictive-maintenance pilot works on one CNC family. Leaders want to deploy it to every machine next month.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737360"/>
            <a:ext cx="31089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93392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SIGNALS TO INTERPRET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542032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542032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505456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Sensors and failure modes differ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3255263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255263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3218687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Maintenance history quality varies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968496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68496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931920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 thresholds are asset-specific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681727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81727"/>
            <a:ext cx="347472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1808" y="4645151"/>
            <a:ext cx="21031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Support capacity may be insufficient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737360"/>
            <a:ext cx="3474720" cy="4251960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9339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14600"/>
            <a:ext cx="2907792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Scale through a repeatable qualification gate: process similarity, data readiness, risk review, local validation and owner acceptance.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AI-ENABLED LEAN IMPLEMENTATION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lean-AI operating 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Lean defines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customer value and system waste as the compass.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 own the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Domain expertise frames, verifies and improves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makes reality visible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Quality, context and lineage determine trust.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shortens the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Sense, predict, retrieve or recommend earlier.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Governance protects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limits, review, fallback and monitoring.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sustains improvement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Standardise verified gains and revisit assumptions.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ADVANCED | K3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7: AI Visual Quality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Final inspection is a bottleneck. Orion is considering a computer-vision model to flag surface defects, but safety-critical cracks are rare.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Design a human-in-the-loop visual-quality pilot with suitable data, class metrics, thresholds and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Use-case canvas, data plan, confusion-matrix interpretation, decision rights and pilot acceptance criteria.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Use-case worksheet; sample predictions CSV; checklist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ACTIVITY 7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OUTPUT REVIEW | K3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7: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Why is overall accuracy insufficient?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error is most harmful?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When must a human inspect?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change triggers model revalidation?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Metrics are class-specific and reconcile to the CSV.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Critical false negatives are treated as a stop condition.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Human disposition authority is explicit.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Data and environment drift triggers are documented.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ADVANCED | K3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8: Predictive-maintenance Decision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CNC-2 shows rising vibration and spindle temperature. A vendor model gives a failure-risk score but does not explain the required maintenance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Combine asset criticality, condition data, work history and model evidence into a controlled maintenance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Criticality/FMEA screen, condition trend, action threshold, work-order recommendation and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Sensor CSV; FMEA worksheet; maintenance checklist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ACTIVITY 8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OUTPUT REVIEW | K3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8: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failure mode is plausible?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Does the trend cross an engineering limit?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action follows each risk band?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Who may defer maintenance and on what evidence?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Decision uses both engineering and model evidence.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Safety and maker requirements cannot be overridden by AI.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risk band has an owner and action.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Fallback maintains a safe maintenance regime.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ADVANCED | K8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9: Grounded GenAI for Standard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Maintenance knowledge is split across manuals, approved work instructions and technician notes. Orion wants a copilot to draft troubleshooting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Design prompts, retrieval boundaries and review controls that keep generated standard work grounded and safe.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Grounded prompt, source hierarchy, draft instruction, reviewer checklist and controlled-release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Prompt worksheet; source register; review checklist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ACTIVITY 9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9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OUTPUT REVIEW | K8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9: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sources are authoritative?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must the model refuse to infer?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fields require exact citation?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Who releases the final instruction?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Response cites an approved source for every technical instruction.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Unknown information is stated as unknown.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Safety and lockout/tagout prerequisites are retained.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Final release has reviewer, version and effective date.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CAPSTONE | K1-K8 A1-A6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10: Lean-AI Pilot Charter and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55648"/>
            <a:ext cx="6720840" cy="19019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6172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Orion must choose one improvement: reduce inspection queue, improve CNC uptime or stabilise material replenishment. Each option has different value, data readiness and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755648"/>
            <a:ext cx="3749039" cy="1901952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93392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80"/>
            <a:ext cx="3200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Integrate lean diagnosis, AI use-case selection, implementation planning, governance, economics and sustainment into a defensible pilot charter.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31920"/>
            <a:ext cx="10735056" cy="1847088"/>
          </a:xfrm>
          <a:prstGeom prst="round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87952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LEARNER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100584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A3/pilot charter, SIPOC, baseline, prioritisation matrix, risk controls, ROI, control plan and executive recommendation.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76672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Tools: SIPOC, system-loop, 5 Whys, Fishbone and Pareto tools; capstone worksheet | Detailed procedure: Learner Guide and activity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transition spd="fast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ACTIVITY 10 |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10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6771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96771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Frame the customer and process need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8406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9574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33113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3113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9302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Analyse evidence and assumptions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5916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69455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9455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5644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countermeasure or AI role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21090" y="3634740"/>
            <a:ext cx="201168" cy="0"/>
          </a:xfrm>
          <a:prstGeom prst="line">
            <a:avLst/>
          </a:prstGeom>
          <a:ln w="254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22258" y="1920240"/>
            <a:ext cx="2535174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920240"/>
            <a:ext cx="2535174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5797" y="2304288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5797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1986" y="3364992"/>
            <a:ext cx="2315718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Verify, govern and standardise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the detailed numbered procedure in the Learner Guide; the slide stays focused on the decision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OUTPUT REVIEW | K1-K8 A1-A6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Activity 10: evidence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Which use case addresses the system constraint?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9574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9574" y="1700784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4166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416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374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2454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is the simplest informative experiment?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700784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1716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are the stop conditions?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2258" y="1700784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22258" y="1700784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86850" y="1865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685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8058" y="1865376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5138" y="2395728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evidence supports scale, redesign or termination?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3858768"/>
            <a:ext cx="2535174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Selected use case addresses an evidenced system need.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9574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49574" y="3858768"/>
            <a:ext cx="2535174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14166" y="40233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4166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5374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2454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Charter includes baseline, target, scope, owner and timebox.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5916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858768"/>
            <a:ext cx="2535174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1716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8796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Human authority, fallback and stop criteria are explicit.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2258" y="3858768"/>
            <a:ext cx="2535174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22258" y="3858768"/>
            <a:ext cx="2535174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6850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86850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8058" y="4023360"/>
            <a:ext cx="169392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5138" y="4553712"/>
            <a:ext cx="2169414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ROI distinguishes projected and verified benefit.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Submit the completed worksheet, calculations and evidence checklist from the activity folder.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transition spd="fast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3 |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Topic 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Steps required for successful lean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K3 K8 A5 A6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959352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completed activity outputs to explain your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959352"/>
            <a:ext cx="5271516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959352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123944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4905756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 one workplace process where the method applies.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5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56432"/>
            <a:ext cx="12191695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100" b="1">
                <a:solidFill>
                  <a:srgbClr val="F59E0B"/>
                </a:solidFill>
                <a:latin typeface="Arial"/>
              </a:rPr>
              <a:t>10 minutes | Finalise your capstone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transition spd="med">
    <p:push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See waste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Classified eight wastes and framed problems from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700784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Used value, flow, pull, takt, ABC, EBQ and kanban.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00784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00784"/>
            <a:ext cx="3447288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18653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65376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95728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Designed TPM and maintenance decisions.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3959352"/>
            <a:ext cx="344728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" y="4123944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Apply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Matched predictive, vision and GenAI capabilities to lean needs.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959352"/>
            <a:ext cx="344728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1239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 decisions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Defined data, human authority, fallback and monitoring.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3959352"/>
            <a:ext cx="3447288" cy="20574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10144" y="3959352"/>
            <a:ext cx="344728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74736" y="412394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4114800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4123944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654296"/>
            <a:ext cx="3081528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measurable pilot charter and control plan.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CONTINUE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Support and course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https://www.tertiarycourses.com.sg/wsq-reducing-waste-and-improving-workplace-efficiency-with-lean-six-sigma.html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858768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858768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Telephone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Use approved workplace data only and preserve your organisation's confidentiality.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questions | 60 minutes | K1-K8.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 practical tasks | 90 minutes | A1-A6.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858768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858768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completed documents to the LMS and retain confirmation.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Take the assessment digital attendance before starting.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714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071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TRAQOM 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6292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37460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37460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4942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4942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7188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1688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89170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9170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4748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5916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3398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3398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644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08976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10144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7626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7626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33204" y="3634740"/>
            <a:ext cx="201168" cy="0"/>
          </a:xfrm>
          <a:prstGeom prst="line">
            <a:avLst/>
          </a:prstGeom>
          <a:ln w="254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4372" y="1920240"/>
            <a:ext cx="1623060" cy="34290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34372" y="1920240"/>
            <a:ext cx="16230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61854" y="23042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61854" y="2304288"/>
            <a:ext cx="768096" cy="7680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4100" y="3364992"/>
            <a:ext cx="1403604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532120"/>
            <a:ext cx="10332720" cy="475488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596128"/>
            <a:ext cx="10058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If you disagree with the outcome, do not sign acceptance; follow the appeal process.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|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00784"/>
            <a:ext cx="5271516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86537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assessment digital-attendance QR code shown by the trainer.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00784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700784"/>
            <a:ext cx="5271516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508" y="186537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8562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865376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8796" y="2395728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the submission on your device.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858768"/>
            <a:ext cx="527151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attendance separate from assessment submission.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5916" y="3858768"/>
            <a:ext cx="5271516" cy="195681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5916" y="3858768"/>
            <a:ext cx="5271516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50508" y="40233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4014216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1716" y="4023360"/>
            <a:ext cx="443026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4553712"/>
            <a:ext cx="4905756" cy="11521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the trainer immediately if the attendance event fails.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760720"/>
            <a:ext cx="10744200" cy="310896"/>
          </a:xfrm>
          <a:prstGeom prst="roundRect">
            <a:avLst/>
          </a:prstGeom>
          <a:solidFill>
            <a:srgbClr val="EC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797296"/>
            <a:ext cx="1037844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This slide is repeated at the end as required.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transition spd="med">
    <p:push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Make the process visible. Improve the system. Use AI responsibly.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enquiry@tertiaryinfotech.com | +65 6100 0613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transition spd="med">
    <p:push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94944"/>
            <a:ext cx="10881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4475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512064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for Lean Manufacturing | TGS-2023020425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473952"/>
            <a:ext cx="365760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50292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pic>
        <p:nvPicPr>
          <p:cNvPr id="46" name="Picture 45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496" y="1613916"/>
            <a:ext cx="8500703" cy="42291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7" name="TextBox 46"/>
          <p:cNvSpPr txBox="1"/>
          <p:nvPr/>
        </p:nvSpPr>
        <p:spPr>
          <a:xfrm>
            <a:off x="713232" y="5925312"/>
            <a:ext cx="10765231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